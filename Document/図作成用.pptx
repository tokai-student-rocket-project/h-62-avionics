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490" y="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8FA49-D407-BA15-0642-A120468AD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8FB146-D10F-3364-FBEB-3452B7444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957222-6880-B47C-F3E1-9934EDB0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20339A-77C6-C0F3-6762-D83B34ED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FEFAF7-78D2-36DD-739B-F7520E99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78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10E41-E132-D3C7-6EA3-64ECB29E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CFD348-24D5-593F-8681-D90927081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F8786D-DF4D-10D3-3D87-A84C93CA3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ACC38D-C6D9-C94D-87FC-CA27E568F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C64593-6900-A607-6A5B-C28CB4C8A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860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CE8506-71C7-F452-0959-81850789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DD6D56-B30F-2DF6-215E-9AF359408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3465E-590B-A14A-C5C9-5515DF81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32C284-AC08-08AB-698D-62A22EA1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3D0D1B-66C9-5F38-44EE-B2BB9B4CC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58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A592D-8CDB-08DB-121D-3A5AC489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3D1BD8-2669-9A60-F494-3A9BBAAA7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08622C-383B-481D-1076-5E9A15366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95266B-3851-7CF8-55E5-AEA8ABAA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E4B26F-EC68-9CC4-D51A-B8524EC7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B1F795-B11F-DF84-B75D-11943E0D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38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3AB018-B150-0DAE-DA56-C600F807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295A6A-649E-D481-6D98-6B4797397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35619D-33B7-314E-144F-6DFD96E24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CFC2CE-41EB-09EA-4DFC-7D313BC27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9A2DE86-4D79-8412-D088-B5F7770B1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3ADDE96-6980-0A84-F3FD-61043C29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50166A9-A7AC-7935-3711-BEB6484C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C50F894-491D-F846-998C-1C8E87FF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5151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193C8-BA96-49CA-45A1-D1B99212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6AA6F4-14ED-C94C-F511-7D735DC5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D72F3A5-A939-2DBC-AC8E-44D0CBCC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CC23DC7-A039-8896-1FDB-14B515A9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9528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662D166-F2DA-1AF8-9AE6-E70C8545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5695D3F-EC2C-8A00-68BF-EBE83FAB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B53066-86D1-49EC-2F69-6D1FFF74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87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05C134-3535-949B-0CFB-0E194C14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8CE614-1D45-C217-2360-0D9E7E666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C9BAEF-15A6-3E4B-9200-BE5D88F27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3038AD-C739-72C1-50C2-082A01F6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16DBEF-9DE0-02A2-C5C8-220CF8F7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B0E04C-CC9E-03AF-4FDB-733BA12F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497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EEDE2-AB24-0B87-D3C8-042C119A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0F2E37F-1942-C205-D6A0-073EF0020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E7C921-694D-33E9-BC70-3B391CAE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3555B5-1E6D-65C8-B5E2-235FD4A5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676771-7D68-2EC6-18F9-E0E6F484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914233-89CB-C069-AA21-F607275B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06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A062F-5D3F-0D08-999F-997BEF89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DECB48F-8C69-ABE4-6CB5-51B9E17BE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93876-9437-DA0D-B9A9-D04DA7E7B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90D831-D96B-07A0-9954-47A51499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BFDBF5-9DA8-1F3D-990D-3C7B0911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759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B2134FC-AA29-1AD4-2DCD-008D99EBC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5A836B-45A8-75FB-4B6B-E864DCC78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56A196-2B8A-FA15-1A2E-384610DD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F40E4-6D20-DC50-7912-10468681C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912270-FE13-5E68-B669-E8053082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724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18FB1EB-786B-77F1-AB2D-F2B2E4115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95AA8D-A72F-2BD0-D13F-07A8E700D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C67B47-DC98-20B2-07D4-E583EA6C5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9E37B-3E14-47AE-8FD5-8C451C00E2CF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776200-B771-23BD-6264-05051F969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09F2A1-151B-A3EA-BACD-7BAE9EF3F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38C7F-D4E2-4CFE-BB85-5E494AD019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273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衣類, 男, 女性, 立つ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F5CE786-BBA3-01B2-7181-81FC6D2C1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480" y="0"/>
            <a:ext cx="3713040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3DC10C0-46B0-D49A-0EAD-C865F3CD06D6}"/>
              </a:ext>
            </a:extLst>
          </p:cNvPr>
          <p:cNvSpPr/>
          <p:nvPr/>
        </p:nvSpPr>
        <p:spPr>
          <a:xfrm>
            <a:off x="6258082" y="5782722"/>
            <a:ext cx="1566705" cy="856203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フライトピン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1619E047-A8B8-C9F9-0BD0-4C5A2D03C93E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6924675" y="4719638"/>
            <a:ext cx="116760" cy="1063084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D56ACC7-A2E8-F5B5-A54F-0927D5102504}"/>
              </a:ext>
            </a:extLst>
          </p:cNvPr>
          <p:cNvSpPr/>
          <p:nvPr/>
        </p:nvSpPr>
        <p:spPr>
          <a:xfrm>
            <a:off x="4462620" y="3362325"/>
            <a:ext cx="1566705" cy="856203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アンビリカルケーブル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0DBCC7E-67EA-8527-5405-71995028B22C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245973" y="4218528"/>
            <a:ext cx="392827" cy="116786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F390401-3799-BD42-D8C5-651F7D2EE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3C26A60-68AC-66D5-08F5-6C6065C70576}"/>
              </a:ext>
            </a:extLst>
          </p:cNvPr>
          <p:cNvSpPr/>
          <p:nvPr/>
        </p:nvSpPr>
        <p:spPr>
          <a:xfrm>
            <a:off x="2885440" y="1137920"/>
            <a:ext cx="2418080" cy="81280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</a:rPr>
              <a:t>DF1B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シリーズ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中継コネクタ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0B00E33-4EB7-BCBA-8E7E-CEF170A04B55}"/>
              </a:ext>
            </a:extLst>
          </p:cNvPr>
          <p:cNvCxnSpPr>
            <a:stCxn id="6" idx="3"/>
          </p:cNvCxnSpPr>
          <p:nvPr/>
        </p:nvCxnSpPr>
        <p:spPr>
          <a:xfrm flipV="1">
            <a:off x="5303520" y="1229360"/>
            <a:ext cx="508000" cy="314960"/>
          </a:xfrm>
          <a:prstGeom prst="line">
            <a:avLst/>
          </a:prstGeom>
          <a:ln w="571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90BC83-AA6A-4E85-47E5-EA7972C51551}"/>
              </a:ext>
            </a:extLst>
          </p:cNvPr>
          <p:cNvSpPr/>
          <p:nvPr/>
        </p:nvSpPr>
        <p:spPr>
          <a:xfrm>
            <a:off x="7457440" y="3299460"/>
            <a:ext cx="1564640" cy="57404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機体側へ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61304B6-47B3-9D5C-1A69-D4CA38060EBE}"/>
              </a:ext>
            </a:extLst>
          </p:cNvPr>
          <p:cNvSpPr/>
          <p:nvPr/>
        </p:nvSpPr>
        <p:spPr>
          <a:xfrm>
            <a:off x="6664960" y="5778500"/>
            <a:ext cx="3850640" cy="57404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サテライトコントローラー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側へ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D32E8C-7987-8760-BFC7-F5206F985D3B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7802880" y="2717800"/>
            <a:ext cx="436880" cy="581660"/>
          </a:xfrm>
          <a:prstGeom prst="line">
            <a:avLst/>
          </a:prstGeom>
          <a:ln w="571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7429D9C-94A2-F732-2C2D-3E91D6C52CD9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6177280" y="5608320"/>
            <a:ext cx="487680" cy="457200"/>
          </a:xfrm>
          <a:prstGeom prst="line">
            <a:avLst/>
          </a:prstGeom>
          <a:ln w="571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4F23893-A440-DF60-32ED-8A5229B48289}"/>
              </a:ext>
            </a:extLst>
          </p:cNvPr>
          <p:cNvSpPr/>
          <p:nvPr/>
        </p:nvSpPr>
        <p:spPr>
          <a:xfrm>
            <a:off x="1767840" y="3586480"/>
            <a:ext cx="1930399" cy="57404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安定化電源側へ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0C039F7-188A-3E31-8C67-C012D5A9BFDA}"/>
              </a:ext>
            </a:extLst>
          </p:cNvPr>
          <p:cNvCxnSpPr>
            <a:cxnSpLocks/>
          </p:cNvCxnSpPr>
          <p:nvPr/>
        </p:nvCxnSpPr>
        <p:spPr>
          <a:xfrm flipH="1" flipV="1">
            <a:off x="2336800" y="2814320"/>
            <a:ext cx="396239" cy="772160"/>
          </a:xfrm>
          <a:prstGeom prst="line">
            <a:avLst/>
          </a:prstGeom>
          <a:ln w="57150">
            <a:solidFill>
              <a:srgbClr val="00B0F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537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74670DD-0053-1874-4481-CE8E78F36D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3AF98F3-71B3-90CE-0888-7FDD5EF0E11C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4168442" y="605831"/>
            <a:ext cx="553577" cy="365719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3ED580-152C-7864-978C-995DF78A8AA6}"/>
              </a:ext>
            </a:extLst>
          </p:cNvPr>
          <p:cNvSpPr txBox="1"/>
          <p:nvPr/>
        </p:nvSpPr>
        <p:spPr>
          <a:xfrm>
            <a:off x="1878805" y="374998"/>
            <a:ext cx="2289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外部電源入力</a:t>
            </a:r>
            <a:endParaRPr kumimoji="1" lang="ja-JP" altLang="en-US" sz="24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0CBF25D-F3DE-F92D-AD95-689958073876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722019" y="5822156"/>
            <a:ext cx="328612" cy="430013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BC2666-36D2-B907-481D-D34A5504CF36}"/>
              </a:ext>
            </a:extLst>
          </p:cNvPr>
          <p:cNvSpPr txBox="1"/>
          <p:nvPr/>
        </p:nvSpPr>
        <p:spPr>
          <a:xfrm>
            <a:off x="2563048" y="6021336"/>
            <a:ext cx="215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内部電源</a:t>
            </a:r>
            <a:r>
              <a:rPr kumimoji="1" lang="ja-JP" altLang="en-US" sz="2400" dirty="0"/>
              <a:t>入力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0C9FEC5-89DA-452C-5C5E-21498966E5A2}"/>
              </a:ext>
            </a:extLst>
          </p:cNvPr>
          <p:cNvSpPr txBox="1"/>
          <p:nvPr/>
        </p:nvSpPr>
        <p:spPr>
          <a:xfrm>
            <a:off x="450056" y="914400"/>
            <a:ext cx="2393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外部電源入力時</a:t>
            </a:r>
            <a:endParaRPr kumimoji="1" lang="ja-JP" altLang="en-US" sz="2400" dirty="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8E2A2A9-C245-FFF9-EE77-8A66FFBBECE9}"/>
              </a:ext>
            </a:extLst>
          </p:cNvPr>
          <p:cNvCxnSpPr>
            <a:cxnSpLocks/>
          </p:cNvCxnSpPr>
          <p:nvPr/>
        </p:nvCxnSpPr>
        <p:spPr>
          <a:xfrm>
            <a:off x="450056" y="1380531"/>
            <a:ext cx="2571750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E4CC8AA-8116-9C49-D913-752679B035AF}"/>
              </a:ext>
            </a:extLst>
          </p:cNvPr>
          <p:cNvCxnSpPr>
            <a:cxnSpLocks/>
          </p:cNvCxnSpPr>
          <p:nvPr/>
        </p:nvCxnSpPr>
        <p:spPr>
          <a:xfrm>
            <a:off x="450056" y="1447206"/>
            <a:ext cx="2571750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矢印: 折線 27">
            <a:extLst>
              <a:ext uri="{FF2B5EF4-FFF2-40B4-BE49-F238E27FC236}">
                <a16:creationId xmlns:a16="http://schemas.microsoft.com/office/drawing/2014/main" id="{83BDC8C6-F07E-FE46-6294-23F2EFAFB65F}"/>
              </a:ext>
            </a:extLst>
          </p:cNvPr>
          <p:cNvSpPr/>
          <p:nvPr/>
        </p:nvSpPr>
        <p:spPr>
          <a:xfrm flipV="1">
            <a:off x="4807744" y="1857374"/>
            <a:ext cx="1914525" cy="935832"/>
          </a:xfrm>
          <a:prstGeom prst="ben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97BEA775-5710-6064-1FA6-CB6966F18534}"/>
              </a:ext>
            </a:extLst>
          </p:cNvPr>
          <p:cNvSpPr/>
          <p:nvPr/>
        </p:nvSpPr>
        <p:spPr>
          <a:xfrm rot="5400000">
            <a:off x="6434138" y="5450682"/>
            <a:ext cx="1200150" cy="51435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折線 29">
            <a:extLst>
              <a:ext uri="{FF2B5EF4-FFF2-40B4-BE49-F238E27FC236}">
                <a16:creationId xmlns:a16="http://schemas.microsoft.com/office/drawing/2014/main" id="{4618D3C5-59BE-379F-D764-7ACDA4B5B40E}"/>
              </a:ext>
            </a:extLst>
          </p:cNvPr>
          <p:cNvSpPr/>
          <p:nvPr/>
        </p:nvSpPr>
        <p:spPr>
          <a:xfrm rot="5400000" flipV="1">
            <a:off x="6382348" y="4038004"/>
            <a:ext cx="882250" cy="935832"/>
          </a:xfrm>
          <a:prstGeom prst="ben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1" name="矢印: 折線 30">
            <a:extLst>
              <a:ext uri="{FF2B5EF4-FFF2-40B4-BE49-F238E27FC236}">
                <a16:creationId xmlns:a16="http://schemas.microsoft.com/office/drawing/2014/main" id="{B5DCAEC3-4E34-377A-8500-A7B59C3DEF39}"/>
              </a:ext>
            </a:extLst>
          </p:cNvPr>
          <p:cNvSpPr/>
          <p:nvPr/>
        </p:nvSpPr>
        <p:spPr>
          <a:xfrm rot="16200000" flipH="1" flipV="1">
            <a:off x="7069339" y="2461023"/>
            <a:ext cx="882250" cy="935832"/>
          </a:xfrm>
          <a:prstGeom prst="ben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78DE378-7FA9-5C96-B65C-6ACC36E40D27}"/>
              </a:ext>
            </a:extLst>
          </p:cNvPr>
          <p:cNvCxnSpPr>
            <a:cxnSpLocks/>
          </p:cNvCxnSpPr>
          <p:nvPr/>
        </p:nvCxnSpPr>
        <p:spPr>
          <a:xfrm>
            <a:off x="7267575" y="5708550"/>
            <a:ext cx="588991" cy="543618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F5E700C-CFD4-CB4E-F288-18CFBCA5AD5C}"/>
              </a:ext>
            </a:extLst>
          </p:cNvPr>
          <p:cNvSpPr txBox="1"/>
          <p:nvPr/>
        </p:nvSpPr>
        <p:spPr>
          <a:xfrm>
            <a:off x="7856567" y="6002436"/>
            <a:ext cx="1668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バス出力</a:t>
            </a:r>
            <a:endParaRPr kumimoji="1" lang="ja-JP" altLang="en-US" sz="2400" dirty="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FD5A339C-F6C1-DE93-51A3-9B79A49108F2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8074452" y="2191225"/>
            <a:ext cx="1232662" cy="601981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9894FFE-C524-687C-B1ED-52772DB93599}"/>
              </a:ext>
            </a:extLst>
          </p:cNvPr>
          <p:cNvSpPr txBox="1"/>
          <p:nvPr/>
        </p:nvSpPr>
        <p:spPr>
          <a:xfrm>
            <a:off x="9307114" y="1837282"/>
            <a:ext cx="2358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solidFill>
                  <a:srgbClr val="00B050"/>
                </a:solidFill>
              </a:rPr>
              <a:t>DCDC</a:t>
            </a:r>
            <a:r>
              <a:rPr lang="ja-JP" altLang="en-US" sz="2000" dirty="0">
                <a:solidFill>
                  <a:srgbClr val="00B050"/>
                </a:solidFill>
              </a:rPr>
              <a:t>コンバーターを介して変圧</a:t>
            </a:r>
            <a:endParaRPr kumimoji="1" lang="ja-JP" altLang="en-US" sz="2000" dirty="0">
              <a:solidFill>
                <a:srgbClr val="00B050"/>
              </a:solidFill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71584AFA-C171-BD37-BB99-9FC06BE1B5E0}"/>
              </a:ext>
            </a:extLst>
          </p:cNvPr>
          <p:cNvCxnSpPr>
            <a:cxnSpLocks/>
            <a:endCxn id="42" idx="3"/>
          </p:cNvCxnSpPr>
          <p:nvPr/>
        </p:nvCxnSpPr>
        <p:spPr>
          <a:xfrm flipH="1" flipV="1">
            <a:off x="2666999" y="4505920"/>
            <a:ext cx="2633201" cy="617604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4B0F6D8-817B-3C0F-7583-4D29BD89B274}"/>
              </a:ext>
            </a:extLst>
          </p:cNvPr>
          <p:cNvSpPr txBox="1"/>
          <p:nvPr/>
        </p:nvSpPr>
        <p:spPr>
          <a:xfrm>
            <a:off x="986971" y="4151977"/>
            <a:ext cx="168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>
                <a:solidFill>
                  <a:srgbClr val="00B050"/>
                </a:solidFill>
              </a:rPr>
              <a:t>内部電源は</a:t>
            </a:r>
            <a:endParaRPr lang="en-US" altLang="ja-JP" sz="2000" dirty="0">
              <a:solidFill>
                <a:srgbClr val="00B050"/>
              </a:solidFill>
            </a:endParaRPr>
          </a:p>
          <a:p>
            <a:pPr algn="ctr"/>
            <a:r>
              <a:rPr lang="ja-JP" altLang="en-US" sz="2000" dirty="0">
                <a:solidFill>
                  <a:srgbClr val="00B050"/>
                </a:solidFill>
              </a:rPr>
              <a:t>遮断される</a:t>
            </a:r>
            <a:endParaRPr kumimoji="1" lang="ja-JP" altLang="en-US" sz="2000" dirty="0">
              <a:solidFill>
                <a:srgbClr val="00B050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24205C2E-8F27-54ED-E742-E5E5F68DF476}"/>
              </a:ext>
            </a:extLst>
          </p:cNvPr>
          <p:cNvSpPr txBox="1"/>
          <p:nvPr/>
        </p:nvSpPr>
        <p:spPr>
          <a:xfrm>
            <a:off x="4969430" y="280357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17 V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16546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77DB-7ADC-F86D-B146-4CFD4009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645F9E5-03BF-6CED-4F7D-1477530FD2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962905C-B0E3-48CD-F91F-B5A598C0712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4168442" y="605831"/>
            <a:ext cx="553577" cy="365719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25798DA-C50C-CF37-11A0-B51595595BDD}"/>
              </a:ext>
            </a:extLst>
          </p:cNvPr>
          <p:cNvSpPr txBox="1"/>
          <p:nvPr/>
        </p:nvSpPr>
        <p:spPr>
          <a:xfrm>
            <a:off x="1878805" y="374998"/>
            <a:ext cx="2289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外部電源入力</a:t>
            </a:r>
            <a:endParaRPr kumimoji="1" lang="ja-JP" altLang="en-US" sz="24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AE87B7D-7840-D4D9-BCAA-3A0E549086D4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722019" y="5822156"/>
            <a:ext cx="328612" cy="430013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4FE927-2D7C-E3A8-0E19-1885936CE026}"/>
              </a:ext>
            </a:extLst>
          </p:cNvPr>
          <p:cNvSpPr txBox="1"/>
          <p:nvPr/>
        </p:nvSpPr>
        <p:spPr>
          <a:xfrm>
            <a:off x="2563048" y="6021336"/>
            <a:ext cx="215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内部電源</a:t>
            </a:r>
            <a:r>
              <a:rPr kumimoji="1" lang="ja-JP" altLang="en-US" sz="2400" dirty="0"/>
              <a:t>入力</a:t>
            </a:r>
          </a:p>
        </p:txBody>
      </p:sp>
      <p:sp>
        <p:nvSpPr>
          <p:cNvPr id="28" name="矢印: 折線 27">
            <a:extLst>
              <a:ext uri="{FF2B5EF4-FFF2-40B4-BE49-F238E27FC236}">
                <a16:creationId xmlns:a16="http://schemas.microsoft.com/office/drawing/2014/main" id="{56EADB92-6B0D-FCDF-1464-01BEB437C2D1}"/>
              </a:ext>
            </a:extLst>
          </p:cNvPr>
          <p:cNvSpPr/>
          <p:nvPr/>
        </p:nvSpPr>
        <p:spPr>
          <a:xfrm flipV="1">
            <a:off x="4807744" y="1857374"/>
            <a:ext cx="1914525" cy="935832"/>
          </a:xfrm>
          <a:prstGeom prst="ben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C3899E86-CDE5-08E7-20B6-834A80061770}"/>
              </a:ext>
            </a:extLst>
          </p:cNvPr>
          <p:cNvSpPr/>
          <p:nvPr/>
        </p:nvSpPr>
        <p:spPr>
          <a:xfrm rot="5400000">
            <a:off x="6434138" y="5450682"/>
            <a:ext cx="1200150" cy="51435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折線 29">
            <a:extLst>
              <a:ext uri="{FF2B5EF4-FFF2-40B4-BE49-F238E27FC236}">
                <a16:creationId xmlns:a16="http://schemas.microsoft.com/office/drawing/2014/main" id="{BA0CCD2A-E979-4357-D2E0-CE8078509AC4}"/>
              </a:ext>
            </a:extLst>
          </p:cNvPr>
          <p:cNvSpPr/>
          <p:nvPr/>
        </p:nvSpPr>
        <p:spPr>
          <a:xfrm rot="5400000" flipV="1">
            <a:off x="6382348" y="4038004"/>
            <a:ext cx="882250" cy="935832"/>
          </a:xfrm>
          <a:prstGeom prst="ben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1" name="矢印: 折線 30">
            <a:extLst>
              <a:ext uri="{FF2B5EF4-FFF2-40B4-BE49-F238E27FC236}">
                <a16:creationId xmlns:a16="http://schemas.microsoft.com/office/drawing/2014/main" id="{3F54C0ED-AE23-C8BF-2201-ACB20FD899C2}"/>
              </a:ext>
            </a:extLst>
          </p:cNvPr>
          <p:cNvSpPr/>
          <p:nvPr/>
        </p:nvSpPr>
        <p:spPr>
          <a:xfrm rot="16200000" flipH="1" flipV="1">
            <a:off x="7069339" y="2461023"/>
            <a:ext cx="882250" cy="935832"/>
          </a:xfrm>
          <a:prstGeom prst="ben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24B2BEFB-7D68-FCC1-38F4-4280BB42B475}"/>
              </a:ext>
            </a:extLst>
          </p:cNvPr>
          <p:cNvCxnSpPr>
            <a:cxnSpLocks/>
          </p:cNvCxnSpPr>
          <p:nvPr/>
        </p:nvCxnSpPr>
        <p:spPr>
          <a:xfrm>
            <a:off x="7267575" y="5708550"/>
            <a:ext cx="588991" cy="543618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9A21058-073F-0938-60DB-3E8A299B9973}"/>
              </a:ext>
            </a:extLst>
          </p:cNvPr>
          <p:cNvSpPr txBox="1"/>
          <p:nvPr/>
        </p:nvSpPr>
        <p:spPr>
          <a:xfrm>
            <a:off x="7856567" y="6002436"/>
            <a:ext cx="1668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バス出力</a:t>
            </a:r>
            <a:endParaRPr kumimoji="1" lang="ja-JP" altLang="en-US" sz="2400" dirty="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184E138-1D64-BBD4-9DC7-0F0F4BD1417E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8074452" y="2191225"/>
            <a:ext cx="1232662" cy="601981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904C512-51A1-D4E5-E3FF-E81681FCB95F}"/>
              </a:ext>
            </a:extLst>
          </p:cNvPr>
          <p:cNvSpPr txBox="1"/>
          <p:nvPr/>
        </p:nvSpPr>
        <p:spPr>
          <a:xfrm>
            <a:off x="9307114" y="1837282"/>
            <a:ext cx="2358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solidFill>
                  <a:srgbClr val="00B050"/>
                </a:solidFill>
              </a:rPr>
              <a:t>DCDC</a:t>
            </a:r>
            <a:r>
              <a:rPr lang="ja-JP" altLang="en-US" sz="2000" dirty="0">
                <a:solidFill>
                  <a:srgbClr val="00B050"/>
                </a:solidFill>
              </a:rPr>
              <a:t>コンバーターを介して変圧</a:t>
            </a:r>
            <a:endParaRPr kumimoji="1" lang="ja-JP" altLang="en-US" sz="2000" dirty="0">
              <a:solidFill>
                <a:srgbClr val="00B050"/>
              </a:solidFill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C632557-F73F-673D-2B69-EAC9344816E0}"/>
              </a:ext>
            </a:extLst>
          </p:cNvPr>
          <p:cNvCxnSpPr>
            <a:cxnSpLocks/>
            <a:endCxn id="42" idx="3"/>
          </p:cNvCxnSpPr>
          <p:nvPr/>
        </p:nvCxnSpPr>
        <p:spPr>
          <a:xfrm flipH="1" flipV="1">
            <a:off x="2666999" y="4505920"/>
            <a:ext cx="2399341" cy="724905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47F77E0-1BB3-B63B-DD4A-B65CA2E68399}"/>
              </a:ext>
            </a:extLst>
          </p:cNvPr>
          <p:cNvSpPr txBox="1"/>
          <p:nvPr/>
        </p:nvSpPr>
        <p:spPr>
          <a:xfrm>
            <a:off x="986971" y="4151977"/>
            <a:ext cx="168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>
                <a:solidFill>
                  <a:srgbClr val="00B050"/>
                </a:solidFill>
              </a:rPr>
              <a:t>内部電源が入力される</a:t>
            </a:r>
            <a:endParaRPr lang="en-US" altLang="ja-JP" sz="2000" dirty="0">
              <a:solidFill>
                <a:srgbClr val="00B05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A28225-4EEB-641D-B078-D69999BFA1D5}"/>
              </a:ext>
            </a:extLst>
          </p:cNvPr>
          <p:cNvSpPr txBox="1"/>
          <p:nvPr/>
        </p:nvSpPr>
        <p:spPr>
          <a:xfrm>
            <a:off x="-33963" y="855532"/>
            <a:ext cx="3721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Flight</a:t>
            </a:r>
            <a:r>
              <a:rPr kumimoji="1" lang="ja-JP" altLang="en-US" sz="2000" dirty="0"/>
              <a:t> </a:t>
            </a:r>
            <a:r>
              <a:rPr kumimoji="1" lang="en-US" altLang="ja-JP" sz="2000" dirty="0" err="1"/>
              <a:t>Mode:</a:t>
            </a:r>
            <a:r>
              <a:rPr kumimoji="1" lang="en-US" altLang="ja-JP" dirty="0" err="1"/>
              <a:t>READY_TO_FLY</a:t>
            </a:r>
            <a:endParaRPr kumimoji="1" lang="en-US" altLang="ja-JP" dirty="0"/>
          </a:p>
          <a:p>
            <a:pPr algn="ctr"/>
            <a:endParaRPr kumimoji="1" lang="ja-JP" altLang="en-US" sz="2000" dirty="0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5F97554-3183-A3D8-719A-B58489D8B4EC}"/>
              </a:ext>
            </a:extLst>
          </p:cNvPr>
          <p:cNvCxnSpPr>
            <a:cxnSpLocks/>
          </p:cNvCxnSpPr>
          <p:nvPr/>
        </p:nvCxnSpPr>
        <p:spPr>
          <a:xfrm>
            <a:off x="40662" y="1250424"/>
            <a:ext cx="3464538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DF5B8AE-4316-CF95-7090-4E9E5B2A2F87}"/>
              </a:ext>
            </a:extLst>
          </p:cNvPr>
          <p:cNvCxnSpPr>
            <a:cxnSpLocks/>
          </p:cNvCxnSpPr>
          <p:nvPr/>
        </p:nvCxnSpPr>
        <p:spPr>
          <a:xfrm>
            <a:off x="40662" y="1317099"/>
            <a:ext cx="3460728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矢印: 右 20">
            <a:extLst>
              <a:ext uri="{FF2B5EF4-FFF2-40B4-BE49-F238E27FC236}">
                <a16:creationId xmlns:a16="http://schemas.microsoft.com/office/drawing/2014/main" id="{9FAFDC39-C975-70D4-CF2A-132FB82B01E4}"/>
              </a:ext>
            </a:extLst>
          </p:cNvPr>
          <p:cNvSpPr/>
          <p:nvPr/>
        </p:nvSpPr>
        <p:spPr>
          <a:xfrm rot="16200000">
            <a:off x="4727973" y="4494877"/>
            <a:ext cx="1200150" cy="51435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B185860-D4E8-24FA-89DF-736D7BAA4691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2734831" y="2545168"/>
            <a:ext cx="3220608" cy="753067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C7CC8E7-143B-9EAD-0991-01E4DBA24FEA}"/>
              </a:ext>
            </a:extLst>
          </p:cNvPr>
          <p:cNvSpPr txBox="1"/>
          <p:nvPr/>
        </p:nvSpPr>
        <p:spPr>
          <a:xfrm>
            <a:off x="212445" y="2191225"/>
            <a:ext cx="2522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solidFill>
                  <a:srgbClr val="00B050"/>
                </a:solidFill>
              </a:rPr>
              <a:t>LTC4353</a:t>
            </a:r>
            <a:r>
              <a:rPr lang="ja-JP" altLang="en-US" sz="2000" dirty="0">
                <a:solidFill>
                  <a:srgbClr val="00B050"/>
                </a:solidFill>
              </a:rPr>
              <a:t>により高電圧側が優先される</a:t>
            </a:r>
            <a:endParaRPr lang="en-US" altLang="ja-JP" sz="2000" dirty="0">
              <a:solidFill>
                <a:srgbClr val="00B050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7CA2432-CCBF-AB82-82D0-06251552E829}"/>
              </a:ext>
            </a:extLst>
          </p:cNvPr>
          <p:cNvSpPr txBox="1"/>
          <p:nvPr/>
        </p:nvSpPr>
        <p:spPr>
          <a:xfrm>
            <a:off x="4969430" y="280357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17 V</a:t>
            </a:r>
            <a:endParaRPr kumimoji="1" lang="ja-JP" altLang="en-US" b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F989229-AC06-75FE-25BF-40124A8C1140}"/>
              </a:ext>
            </a:extLst>
          </p:cNvPr>
          <p:cNvSpPr txBox="1"/>
          <p:nvPr/>
        </p:nvSpPr>
        <p:spPr>
          <a:xfrm>
            <a:off x="5249055" y="6125119"/>
            <a:ext cx="110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12.8</a:t>
            </a:r>
            <a:r>
              <a:rPr kumimoji="1" lang="en-US" altLang="ja-JP" b="1" dirty="0"/>
              <a:t> V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72288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398AB-9EDB-6EED-628F-F9FC7B2C0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0377294-040D-2E6A-B905-22E65ED041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4E6A142-F51D-6665-F178-63B18CB0A9AD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722019" y="5822156"/>
            <a:ext cx="328612" cy="430013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D68F5D3-A516-A76E-6DB9-8984F43A3BE8}"/>
              </a:ext>
            </a:extLst>
          </p:cNvPr>
          <p:cNvSpPr txBox="1"/>
          <p:nvPr/>
        </p:nvSpPr>
        <p:spPr>
          <a:xfrm>
            <a:off x="2563048" y="6021336"/>
            <a:ext cx="215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内部電源</a:t>
            </a:r>
            <a:r>
              <a:rPr kumimoji="1" lang="ja-JP" altLang="en-US" sz="2400" dirty="0"/>
              <a:t>入力</a:t>
            </a:r>
          </a:p>
        </p:txBody>
      </p:sp>
      <p:sp>
        <p:nvSpPr>
          <p:cNvPr id="28" name="矢印: 折線 27">
            <a:extLst>
              <a:ext uri="{FF2B5EF4-FFF2-40B4-BE49-F238E27FC236}">
                <a16:creationId xmlns:a16="http://schemas.microsoft.com/office/drawing/2014/main" id="{88B8B4F5-6ED8-8F46-273A-C34E20B14C54}"/>
              </a:ext>
            </a:extLst>
          </p:cNvPr>
          <p:cNvSpPr/>
          <p:nvPr/>
        </p:nvSpPr>
        <p:spPr>
          <a:xfrm>
            <a:off x="5249055" y="3046811"/>
            <a:ext cx="1914525" cy="935832"/>
          </a:xfrm>
          <a:prstGeom prst="ben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F4A3BAF6-8316-2D22-8EAF-F9F5EBD9C3A0}"/>
              </a:ext>
            </a:extLst>
          </p:cNvPr>
          <p:cNvSpPr/>
          <p:nvPr/>
        </p:nvSpPr>
        <p:spPr>
          <a:xfrm rot="5400000">
            <a:off x="6434138" y="5450682"/>
            <a:ext cx="1200150" cy="51435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折線 29">
            <a:extLst>
              <a:ext uri="{FF2B5EF4-FFF2-40B4-BE49-F238E27FC236}">
                <a16:creationId xmlns:a16="http://schemas.microsoft.com/office/drawing/2014/main" id="{B14FA38F-874E-A78D-6409-B67DE34551AA}"/>
              </a:ext>
            </a:extLst>
          </p:cNvPr>
          <p:cNvSpPr/>
          <p:nvPr/>
        </p:nvSpPr>
        <p:spPr>
          <a:xfrm rot="5400000" flipV="1">
            <a:off x="6382348" y="4038004"/>
            <a:ext cx="882250" cy="935832"/>
          </a:xfrm>
          <a:prstGeom prst="ben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1" name="矢印: 折線 30">
            <a:extLst>
              <a:ext uri="{FF2B5EF4-FFF2-40B4-BE49-F238E27FC236}">
                <a16:creationId xmlns:a16="http://schemas.microsoft.com/office/drawing/2014/main" id="{A4A57054-ACC2-1D54-8D61-69CF9374E3D5}"/>
              </a:ext>
            </a:extLst>
          </p:cNvPr>
          <p:cNvSpPr/>
          <p:nvPr/>
        </p:nvSpPr>
        <p:spPr>
          <a:xfrm rot="16200000" flipH="1" flipV="1">
            <a:off x="7170281" y="3279796"/>
            <a:ext cx="882250" cy="687748"/>
          </a:xfrm>
          <a:prstGeom prst="ben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130534E-BFC9-9027-E905-7DD6DF33000E}"/>
              </a:ext>
            </a:extLst>
          </p:cNvPr>
          <p:cNvCxnSpPr>
            <a:cxnSpLocks/>
          </p:cNvCxnSpPr>
          <p:nvPr/>
        </p:nvCxnSpPr>
        <p:spPr>
          <a:xfrm>
            <a:off x="7267575" y="5708550"/>
            <a:ext cx="588991" cy="543618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8B38452-46AE-887C-0959-AC9701540AAE}"/>
              </a:ext>
            </a:extLst>
          </p:cNvPr>
          <p:cNvSpPr txBox="1"/>
          <p:nvPr/>
        </p:nvSpPr>
        <p:spPr>
          <a:xfrm>
            <a:off x="7856567" y="6002436"/>
            <a:ext cx="1668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バス出力</a:t>
            </a:r>
            <a:endParaRPr kumimoji="1" lang="ja-JP" altLang="en-US" sz="2400" dirty="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BC78072-5D38-3CF8-E695-EB4F7287339D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8074452" y="2191225"/>
            <a:ext cx="1232662" cy="601981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3C4530D-000C-B654-2D86-2A5A99D9133D}"/>
              </a:ext>
            </a:extLst>
          </p:cNvPr>
          <p:cNvSpPr txBox="1"/>
          <p:nvPr/>
        </p:nvSpPr>
        <p:spPr>
          <a:xfrm>
            <a:off x="9307114" y="1837282"/>
            <a:ext cx="2358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solidFill>
                  <a:srgbClr val="00B050"/>
                </a:solidFill>
              </a:rPr>
              <a:t>DCDC</a:t>
            </a:r>
            <a:r>
              <a:rPr lang="ja-JP" altLang="en-US" sz="2000" dirty="0">
                <a:solidFill>
                  <a:srgbClr val="00B050"/>
                </a:solidFill>
              </a:rPr>
              <a:t>コンバーターを介して変圧</a:t>
            </a:r>
            <a:endParaRPr kumimoji="1" lang="ja-JP" altLang="en-US" sz="2000" dirty="0">
              <a:solidFill>
                <a:srgbClr val="00B050"/>
              </a:solidFill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55CE48E7-4AB4-D9F6-74A7-C9E67BF094D1}"/>
              </a:ext>
            </a:extLst>
          </p:cNvPr>
          <p:cNvCxnSpPr>
            <a:cxnSpLocks/>
            <a:endCxn id="42" idx="3"/>
          </p:cNvCxnSpPr>
          <p:nvPr/>
        </p:nvCxnSpPr>
        <p:spPr>
          <a:xfrm flipH="1" flipV="1">
            <a:off x="2666999" y="4505920"/>
            <a:ext cx="2399341" cy="724905"/>
          </a:xfrm>
          <a:prstGeom prst="line">
            <a:avLst/>
          </a:prstGeom>
          <a:ln w="50800" cap="rnd">
            <a:solidFill>
              <a:schemeClr val="tx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135B107-EC78-2A2C-BA8F-BC2B20FB36CF}"/>
              </a:ext>
            </a:extLst>
          </p:cNvPr>
          <p:cNvSpPr txBox="1"/>
          <p:nvPr/>
        </p:nvSpPr>
        <p:spPr>
          <a:xfrm>
            <a:off x="986971" y="4151977"/>
            <a:ext cx="168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>
                <a:solidFill>
                  <a:srgbClr val="00B050"/>
                </a:solidFill>
              </a:rPr>
              <a:t>内部電源が入力される</a:t>
            </a:r>
            <a:endParaRPr lang="en-US" altLang="ja-JP" sz="2000" dirty="0">
              <a:solidFill>
                <a:srgbClr val="00B05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CF4902-048A-41B8-2537-8B1EB0C5A9C1}"/>
              </a:ext>
            </a:extLst>
          </p:cNvPr>
          <p:cNvSpPr txBox="1"/>
          <p:nvPr/>
        </p:nvSpPr>
        <p:spPr>
          <a:xfrm>
            <a:off x="1150620" y="843488"/>
            <a:ext cx="2057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外部電源遮断時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BC3B1C4-0CCC-994A-AA2B-C08A53A86F70}"/>
              </a:ext>
            </a:extLst>
          </p:cNvPr>
          <p:cNvCxnSpPr>
            <a:cxnSpLocks/>
          </p:cNvCxnSpPr>
          <p:nvPr/>
        </p:nvCxnSpPr>
        <p:spPr>
          <a:xfrm>
            <a:off x="1150620" y="1250424"/>
            <a:ext cx="1973580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4BFC5DA-9A45-4925-46D7-F9219B09E91A}"/>
              </a:ext>
            </a:extLst>
          </p:cNvPr>
          <p:cNvCxnSpPr>
            <a:cxnSpLocks/>
          </p:cNvCxnSpPr>
          <p:nvPr/>
        </p:nvCxnSpPr>
        <p:spPr>
          <a:xfrm>
            <a:off x="1150620" y="1317099"/>
            <a:ext cx="1973580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矢印: 右 20">
            <a:extLst>
              <a:ext uri="{FF2B5EF4-FFF2-40B4-BE49-F238E27FC236}">
                <a16:creationId xmlns:a16="http://schemas.microsoft.com/office/drawing/2014/main" id="{4A2AF1A3-1764-C40C-F35D-6D86285C708B}"/>
              </a:ext>
            </a:extLst>
          </p:cNvPr>
          <p:cNvSpPr/>
          <p:nvPr/>
        </p:nvSpPr>
        <p:spPr>
          <a:xfrm rot="16200000">
            <a:off x="4727973" y="4494877"/>
            <a:ext cx="1200150" cy="514350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7C53195-B5D0-09B8-492D-BC182E04D1DF}"/>
              </a:ext>
            </a:extLst>
          </p:cNvPr>
          <p:cNvSpPr txBox="1"/>
          <p:nvPr/>
        </p:nvSpPr>
        <p:spPr>
          <a:xfrm>
            <a:off x="5249055" y="6125119"/>
            <a:ext cx="110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12.8</a:t>
            </a:r>
            <a:r>
              <a:rPr kumimoji="1" lang="en-US" altLang="ja-JP" b="1" dirty="0"/>
              <a:t> V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167691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ralerspace Neon JPDOC">
      <a:majorFont>
        <a:latin typeface="Moralerspace Neon JPDOC"/>
        <a:ea typeface="Moralerspace Neon JPDOC"/>
        <a:cs typeface=""/>
      </a:majorFont>
      <a:minorFont>
        <a:latin typeface="Moralerspace Neon JPDOC"/>
        <a:ea typeface="Moralerspace Neon JPDO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96</Words>
  <Application>Microsoft Office PowerPoint</Application>
  <PresentationFormat>ワイド画面</PresentationFormat>
  <Paragraphs>30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Moralerspace Neon JPDOC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5CEMM058</dc:creator>
  <cp:lastModifiedBy>5CEMM058</cp:lastModifiedBy>
  <cp:revision>31</cp:revision>
  <dcterms:created xsi:type="dcterms:W3CDTF">2025-06-03T00:05:50Z</dcterms:created>
  <dcterms:modified xsi:type="dcterms:W3CDTF">2026-01-06T17:44:27Z</dcterms:modified>
</cp:coreProperties>
</file>